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fntdata" ContentType="application/x-fontdata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League Spartan"/>
      <p:regular r:id="rId90"/>
      <p:bold r:id="rId91"/>
    </p:embeddedFont>
    <p:embeddedFont>
      <p:font typeface="Nunito"/>
      <p:regular r:id="rId92"/>
      <p:bold r:id="rId9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90" Type="http://schemas.openxmlformats.org/officeDocument/2006/relationships/font" Target="fonts/font1.fntdata"/><Relationship Id="rId91" Type="http://schemas.openxmlformats.org/officeDocument/2006/relationships/font" Target="fonts/font2.fntdata"/><Relationship Id="rId92" Type="http://schemas.openxmlformats.org/officeDocument/2006/relationships/font" Target="fonts/font3.fntdata"/><Relationship Id="rId93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ATELIER DE TRAVAIL · {{Client}}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2414016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{{Titre de l'atelier}}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4023360"/>
            <a:ext cx="153985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023360"/>
            <a:ext cx="1539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{{Demi-journée}}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34794" y="4023360"/>
            <a:ext cx="1693469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4794" y="4023360"/>
            <a:ext cx="169346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{{Mission STRIDE}}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74566" y="4023360"/>
            <a:ext cx="1616659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4566" y="4023360"/>
            <a:ext cx="16166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{{Comité projet}}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46451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EC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Animé par The Learning Society  ·  {{Date}}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75488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783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F8B04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L'OBJECTIF DU JOUR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21208" y="2103120"/>
            <a:ext cx="7955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Aujourd'hui, on co-construit ______. }}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48640" y="39776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Un atelier de travail — pas une présentation. Votre matière première : vos réalités terrain.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01798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5017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OBJECTIFS DE L'ATELIER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qu'on produit ensemble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{{Livrable 1}}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{{ex : cartographie des compétences cibles}}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{{Livrable 2}}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{{ex : priorisation des chantiers}}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{{Livrable 3}}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{{ex : plan d'action partagé}}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2" name="Text 7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119226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11922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CADRE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Où on en est dans la méthode STRIDE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Déjà fait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Étape {{S'orienter}} — {{l'audit SBO}}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Aujourd'hui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Cet atelier — {{co-construction}}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Ensuite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Étape {{Réaliser}} — {{prochaine étape}}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2" name="Text 7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403043" cy="310896"/>
          </a:xfrm>
          <a:prstGeom prst="roundRect">
            <a:avLst>
              <a:gd name="adj" fmla="val 50000"/>
            </a:avLst>
          </a:prstGeom>
          <a:solidFill>
            <a:srgbClr val="ED84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4030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LE DIAGNOSTIC PARTAGÉ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que révèle l'audit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886200" cy="2606040"/>
          </a:xfrm>
          <a:prstGeom prst="roundRect">
            <a:avLst>
              <a:gd name="adj" fmla="val 4912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59536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6920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Constats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96112" y="2761488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8" name="Text 6"/>
          <p:cNvSpPr/>
          <p:nvPr/>
        </p:nvSpPr>
        <p:spPr>
          <a:xfrm>
            <a:off x="1133856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{{Constat 1}}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96112" y="329184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0" name="Text 8"/>
          <p:cNvSpPr/>
          <p:nvPr/>
        </p:nvSpPr>
        <p:spPr>
          <a:xfrm>
            <a:off x="1133856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{{Constat 2}}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96112" y="3822192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2" name="Text 10"/>
          <p:cNvSpPr/>
          <p:nvPr/>
        </p:nvSpPr>
        <p:spPr>
          <a:xfrm>
            <a:off x="1133856" y="3712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{{Constat 3}}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874520"/>
            <a:ext cx="3886200" cy="2606040"/>
          </a:xfrm>
          <a:prstGeom prst="roundRect">
            <a:avLst>
              <a:gd name="adj" fmla="val 4912"/>
            </a:avLst>
          </a:prstGeom>
          <a:solidFill>
            <a:srgbClr val="E8F4F7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0056" y="214884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Enjeux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56632" y="2761488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6" name="Text 14"/>
          <p:cNvSpPr/>
          <p:nvPr/>
        </p:nvSpPr>
        <p:spPr>
          <a:xfrm>
            <a:off x="5294376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{{Enjeu 1}}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56632" y="3291840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18" name="Text 16"/>
          <p:cNvSpPr/>
          <p:nvPr/>
        </p:nvSpPr>
        <p:spPr>
          <a:xfrm>
            <a:off x="5294376" y="31821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{{Enjeu 2}}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56632" y="3822192"/>
            <a:ext cx="109728" cy="109728"/>
          </a:xfrm>
          <a:prstGeom prst="ellipse">
            <a:avLst/>
          </a:prstGeom>
          <a:solidFill>
            <a:srgbClr val="55A1B4"/>
          </a:solidFill>
          <a:ln/>
        </p:spPr>
      </p:sp>
      <p:sp>
        <p:nvSpPr>
          <p:cNvPr id="20" name="Text 18"/>
          <p:cNvSpPr/>
          <p:nvPr/>
        </p:nvSpPr>
        <p:spPr>
          <a:xfrm>
            <a:off x="5294376" y="371246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{{Enjeu 3}}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810512" cy="310896"/>
          </a:xfrm>
          <a:prstGeom prst="roundRect">
            <a:avLst>
              <a:gd name="adj" fmla="val 50000"/>
            </a:avLst>
          </a:prstGeom>
          <a:solidFill>
            <a:srgbClr val="ED84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CO-CONSTRUCTION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33488" y="512064"/>
            <a:ext cx="1261872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5A1B4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9792" y="580644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99248" y="512064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{{30 min}}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{{Cartographions ensemble}}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48640" y="201168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9" name="Text 6"/>
          <p:cNvSpPr/>
          <p:nvPr/>
        </p:nvSpPr>
        <p:spPr>
          <a:xfrm>
            <a:off x="841248" y="19202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{{Consigne 1}}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1" name="Text 8"/>
          <p:cNvSpPr/>
          <p:nvPr/>
        </p:nvSpPr>
        <p:spPr>
          <a:xfrm>
            <a:off x="841248" y="23774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{{Consigne 2}}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109728" cy="109728"/>
          </a:xfrm>
          <a:prstGeom prst="ellipse">
            <a:avLst/>
          </a:prstGeom>
          <a:solidFill>
            <a:srgbClr val="ED843A"/>
          </a:solidFill>
          <a:ln/>
        </p:spPr>
      </p:sp>
      <p:sp>
        <p:nvSpPr>
          <p:cNvPr id="13" name="Text 10"/>
          <p:cNvSpPr/>
          <p:nvPr/>
        </p:nvSpPr>
        <p:spPr>
          <a:xfrm>
            <a:off x="841248" y="28346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{{Consigne 3}}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611880"/>
            <a:ext cx="1909267" cy="31089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611880"/>
            <a:ext cx="190926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 {{2}} groupes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48640" y="4032504"/>
            <a:ext cx="2403043" cy="310896"/>
          </a:xfrm>
          <a:prstGeom prst="roundRect">
            <a:avLst>
              <a:gd name="adj" fmla="val 50000"/>
            </a:avLst>
          </a:prstGeom>
          <a:solidFill>
            <a:srgbClr val="FFF3EB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4032504"/>
            <a:ext cx="2403043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Restitution {{5 min}}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09160" y="1874520"/>
            <a:ext cx="38862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  <a:effectLst>
            <a:outerShdw sx="100000" sy="100000" kx="0" ky="0" algn="bl" rotWithShape="0" blurRad="114300" dist="38100" dir="5400000">
              <a:srgbClr val="1F3E45">
                <a:alpha val="10000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148840"/>
            <a:ext cx="292608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385816" y="21305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0692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RESTITUTION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001768" y="2624328"/>
            <a:ext cx="33009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{{ Sortie attendue : une première cartographie des compétences cibles, par pôle. }}</a:t>
            </a:r>
            <a:endParaRPr lang="en-US" sz="1550" dirty="0"/>
          </a:p>
        </p:txBody>
      </p:sp>
      <p:sp>
        <p:nvSpPr>
          <p:cNvPr id="22" name="Shape 18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3" name="Text 19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514246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5142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PRIORISATION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Qu'est-ce qu'on lance en premier 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79776" y="1865376"/>
            <a:ext cx="1275588" cy="1275588"/>
          </a:xfrm>
          <a:prstGeom prst="roundRect">
            <a:avLst>
              <a:gd name="adj" fmla="val 5735"/>
            </a:avLst>
          </a:prstGeom>
          <a:solidFill>
            <a:srgbClr val="E8F4F7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07792" y="2029968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07792" y="2414016"/>
            <a:ext cx="103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Fort impact · faible effort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28516" y="1865376"/>
            <a:ext cx="1275588" cy="1275588"/>
          </a:xfrm>
          <a:prstGeom prst="roundRect">
            <a:avLst>
              <a:gd name="adj" fmla="val 5735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56532" y="2029968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Chantiers structurants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56532" y="2414016"/>
            <a:ext cx="103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Fort impact · fort effort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79776" y="3214116"/>
            <a:ext cx="1275588" cy="1275588"/>
          </a:xfrm>
          <a:prstGeom prst="roundRect">
            <a:avLst>
              <a:gd name="adj" fmla="val 5735"/>
            </a:avLst>
          </a:prstGeom>
          <a:solidFill>
            <a:srgbClr val="FFFFFF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3378708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À temporiser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07792" y="3762756"/>
            <a:ext cx="103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Faible impact · faible effort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28516" y="3214116"/>
            <a:ext cx="1275588" cy="1275588"/>
          </a:xfrm>
          <a:prstGeom prst="roundRect">
            <a:avLst>
              <a:gd name="adj" fmla="val 5735"/>
            </a:avLst>
          </a:prstGeom>
          <a:solidFill>
            <a:srgbClr val="FFF3EB"/>
          </a:solidFill>
          <a:ln w="12700">
            <a:solidFill>
              <a:srgbClr val="E6ED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6532" y="3378708"/>
            <a:ext cx="10378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5F6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À challenger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56532" y="3762756"/>
            <a:ext cx="103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Faible impact · fort effort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71600" y="19202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IMPACT ↑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60520" y="45994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EFFORT →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0" name="Text 18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501798" cy="310896"/>
          </a:xfrm>
          <a:prstGeom prst="roundRect">
            <a:avLst>
              <a:gd name="adj" fmla="val 50000"/>
            </a:avLst>
          </a:prstGeom>
          <a:solidFill>
            <a:srgbClr val="4A8FA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25017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PLAN D'ACTION PRIORISÉ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Nos prochains pas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Chantier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965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Pilote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675120" y="19659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D7786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Échéance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68296"/>
            <a:ext cx="8046720" cy="0"/>
          </a:xfrm>
          <a:prstGeom prst="line">
            <a:avLst/>
          </a:prstGeom>
          <a:noFill/>
          <a:ln w="19050">
            <a:solidFill>
              <a:srgbClr val="55A1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3288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{{Chantier prioritaire 1}}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754880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{{Pilote}}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75120" y="2532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{{T_}}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990088"/>
            <a:ext cx="80467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0998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{{Chantier 2}}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3099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{{Pilote}}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75120" y="309981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{{T_}}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57016"/>
            <a:ext cx="80467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667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A1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{{Chantier 3}}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0" y="3666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{{Pilote}}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366674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{{T_}}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123944"/>
            <a:ext cx="8046720" cy="0"/>
          </a:xfrm>
          <a:prstGeom prst="line">
            <a:avLst/>
          </a:prstGeom>
          <a:noFill/>
          <a:ln w="12700">
            <a:solidFill>
              <a:srgbClr val="E6ED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15491" cy="310896"/>
          </a:xfrm>
          <a:prstGeom prst="roundRect">
            <a:avLst>
              <a:gd name="adj" fmla="val 50000"/>
            </a:avLst>
          </a:prstGeom>
          <a:solidFill>
            <a:srgbClr val="ED84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141549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ENGAGEMENTS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21208" y="914400"/>
            <a:ext cx="8046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Ce sur quoi on s'engage</a:t>
            </a:r>
            <a:endParaRPr lang="en-US" sz="28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579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187452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Côté TLS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{{engagement / livrable}}</a:t>
            </a:r>
            <a:endParaRPr lang="en-US" sz="14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80944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26974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Côté {{Client}}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{{engagement / disponibilité}}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803904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4128" y="35204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5F6A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Prochain point 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— {{date du prochain jalon}}</a:t>
            </a:r>
            <a:endParaRPr lang="en-US" sz="1400" dirty="0"/>
          </a:p>
        </p:txBody>
      </p:sp>
      <p:sp>
        <p:nvSpPr>
          <p:cNvPr id="11" name="Shape 6"/>
          <p:cNvSpPr/>
          <p:nvPr/>
        </p:nvSpPr>
        <p:spPr>
          <a:xfrm>
            <a:off x="548640" y="4855464"/>
            <a:ext cx="91440" cy="91440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12" name="Text 7"/>
          <p:cNvSpPr/>
          <p:nvPr/>
        </p:nvSpPr>
        <p:spPr>
          <a:xfrm>
            <a:off x="694944" y="478231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The Learning Society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7680960" y="47823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B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64592" cy="164592"/>
          </a:xfrm>
          <a:prstGeom prst="ellipse">
            <a:avLst/>
          </a:prstGeom>
          <a:solidFill>
            <a:srgbClr val="F8B044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114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The Learning Society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269480" y="1508760"/>
            <a:ext cx="1280160" cy="1280160"/>
          </a:xfrm>
          <a:prstGeom prst="ellipse">
            <a:avLst/>
          </a:prstGeom>
          <a:solidFill>
            <a:srgbClr val="4A8FA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9659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League Spartan" pitchFamily="34" charset="0"/>
                <a:ea typeface="League Spartan" pitchFamily="34" charset="-122"/>
                <a:cs typeface="League Spartan" pitchFamily="34" charset="-120"/>
              </a:rPr>
              <a:t>On embarque ensemble.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48640" y="30175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Compte-rendu de l'atelier sous 48h. On enchaîne sur la prochaine étape de la mission STRIDE.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069080"/>
            <a:ext cx="2194560" cy="530352"/>
          </a:xfrm>
          <a:prstGeom prst="roundRect">
            <a:avLst>
              <a:gd name="adj" fmla="val 50000"/>
            </a:avLst>
          </a:prstGeom>
          <a:solidFill>
            <a:srgbClr val="F8B044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406908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E45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Voir la suite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4251960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63240" y="406908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9DEE4"/>
                </a:solidFill>
                <a:latin typeface="Nunito" pitchFamily="34" charset="0"/>
                <a:ea typeface="Nunito" pitchFamily="34" charset="-122"/>
                <a:cs typeface="Nunito" pitchFamily="34" charset="-120"/>
              </a:rPr>
              <a:t>Mission STRIDE — étape {{suivante}}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TLS — Atelier conseil STRIDE (gabarit)</dc:title>
  <dc:subject>PptxGenJS Presentation</dc:subject>
  <dc:creator>The Learning Society</dc:creator>
  <cp:lastModifiedBy>The Learning Society</cp:lastModifiedBy>
  <cp:revision>1</cp:revision>
  <dcterms:created xsi:type="dcterms:W3CDTF">2026-06-16T17:07:23Z</dcterms:created>
  <dcterms:modified xsi:type="dcterms:W3CDTF">2026-06-16T17:07:23Z</dcterms:modified>
</cp:coreProperties>
</file>