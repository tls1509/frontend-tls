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fntdata" ContentType="application/x-fontdata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League Spartan"/>
      <p:regular r:id="rId90"/>
      <p:bold r:id="rId91"/>
    </p:embeddedFont>
    <p:embeddedFont>
      <p:font typeface="Nunito"/>
      <p:regular r:id="rId92"/>
      <p:bold r:id="rId9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90" Type="http://schemas.openxmlformats.org/officeDocument/2006/relationships/font" Target="fonts/font1.fntdata"/><Relationship Id="rId91" Type="http://schemas.openxmlformats.org/officeDocument/2006/relationships/font" Target="fonts/font2.fntdata"/><Relationship Id="rId92" Type="http://schemas.openxmlformats.org/officeDocument/2006/relationships/font" Target="fonts/font3.fntdata"/><Relationship Id="rId9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ANIMATION — Tour de table (5-8 min). Notez les attentes au paperboard, vous y reviendrez en clôture. Donnez le ton : bienveillant, participatif.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ANIMATION — Apport magistral court (max 10 min) puis questions. Ancrez avec une anecdote terrain. Demandez : « ça résonne avec quoi chez vous 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ANIMATION — Constituez les groupes, distribuez le support. Circulez, relancez les groupes silencieux. Time-keeper visible. Restitution croisée.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ANIMATION — Faites parler le groupe avant de conclure. Reformulez, valorisez. Reliez aux objectifs de départ.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ANIMATION — Faites voter à main levée AVANT de révéler. Demandez à un participant de justifier, puis dévoilez.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ANIMATION — Chacun écrit SES actions (engagement individuel). Quelques volontaires partagent à l'oral.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SESSION DE FORMATION · {{Thème}}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414016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{{Titre de la session}}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1693469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023360"/>
            <a:ext cx="16934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{{Durée : 1 jour}}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88413" y="4023360"/>
            <a:ext cx="138623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88413" y="4023360"/>
            <a:ext cx="1386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{{Présentiel}}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20947" y="4023360"/>
            <a:ext cx="1923898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20947" y="4023360"/>
            <a:ext cx="1923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{{8-12 participants}}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645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{{Formateur·trice}}  ·  {{Date}}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7548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 FAIT CONNAISSANCE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21208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Question brise-glace pour le tour de table }}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Prénom, rôle, et une attente pour aujourd'hui.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17981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2179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OBJECTIFS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04811" y="512064"/>
            <a:ext cx="119054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5A1B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115" y="580644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0571" y="512064"/>
            <a:ext cx="8065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{{5 min}}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À la fin de la journée, vous saurez :</a:t>
            </a:r>
            <a:endParaRPr lang="en-US" sz="2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5798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1874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{{Verbe d'action}}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{{objectif 1}}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8094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{{Verbe d'action}}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{{objectif 2}}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0390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4128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{{Verbe d'action}}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{{objectif 3}}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5" name="Text 9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514246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5142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 PROGRAMME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262165" y="512064"/>
            <a:ext cx="133319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5A1B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469" y="580644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7925" y="512064"/>
            <a:ext cx="9491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{{Journée}}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 déroulé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1225296" y="210312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9" name="Text 6"/>
          <p:cNvSpPr/>
          <p:nvPr/>
        </p:nvSpPr>
        <p:spPr>
          <a:xfrm>
            <a:off x="1225296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008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{{Séquence 1}}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76656" y="340156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{{~9h - 10h30}}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36976" y="210312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3" name="Text 10"/>
          <p:cNvSpPr/>
          <p:nvPr/>
        </p:nvSpPr>
        <p:spPr>
          <a:xfrm>
            <a:off x="3236976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5176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{{Séquence 2}}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688336" y="340156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{{~10h45 - 12h}}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248656" y="210312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7" name="Text 14"/>
          <p:cNvSpPr/>
          <p:nvPr/>
        </p:nvSpPr>
        <p:spPr>
          <a:xfrm>
            <a:off x="5248656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66344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{{Séquence 3}}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700016" y="340156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{{~13h30 - 15h}}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260336" y="210312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21" name="Text 18"/>
          <p:cNvSpPr/>
          <p:nvPr/>
        </p:nvSpPr>
        <p:spPr>
          <a:xfrm>
            <a:off x="7260336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67512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{{Séquence 4}}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711696" y="340156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{{~15h15 - 17h}}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5" name="Text 22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21715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217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APPORT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33488" y="512064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5A1B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580644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99248" y="512064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{{20 min}}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{{Le concept clé}}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Gardez peu de texte sur la slide — vous développez à l'oral. Une idée par puce, illustrée d'un exemple vécu. }}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937760" y="1874520"/>
            <a:ext cx="3657600" cy="2423160"/>
          </a:xfrm>
          <a:prstGeom prst="roundRect">
            <a:avLst>
              <a:gd name="adj" fmla="val 5283"/>
            </a:avLst>
          </a:prstGeom>
          <a:solidFill>
            <a:srgbClr val="E8F4F7"/>
          </a:solidFill>
          <a:ln w="12700">
            <a:solidFill>
              <a:srgbClr val="CDE6E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1488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14416" y="2148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230368" y="2642616"/>
            <a:ext cx="3072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Le message à ancrer. }}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4" name="Text 10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ED84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SOUS-GROUPES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33488" y="512064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5A1B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580644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99248" y="512064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{{25 min}}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{{Consigne de l'atelier}}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{{Étape 1 de la consigne}}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{{Étape 2}}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2834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{{Étape 3}}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611880"/>
            <a:ext cx="1909267" cy="310896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611880"/>
            <a:ext cx="19092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Groupes de {{4}}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032504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03250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Restitution {{2 min / groupe}}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09160" y="1874520"/>
            <a:ext cx="388620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148840"/>
            <a:ext cx="292608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85816" y="21305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692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RESTITUTION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01768" y="2624328"/>
            <a:ext cx="3300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Chaque groupe partage 1 idée clé au paperboard. }}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3" name="Text 19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08022" cy="310896"/>
          </a:xfrm>
          <a:prstGeom prst="roundRect">
            <a:avLst>
              <a:gd name="adj" fmla="val 50000"/>
            </a:avLst>
          </a:prstGeom>
          <a:solidFill>
            <a:srgbClr val="ED84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0080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DÉBRIEF COLLECTIF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33488" y="512064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5A1B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580644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99248" y="512064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{{15 min}}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On en discute ensemble</a:t>
            </a:r>
            <a:endParaRPr lang="en-US" sz="2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5798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1874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{{Question ouverte 1}}</a:t>
            </a:r>
            <a:pPr indent="0" marL="0">
              <a:buNone/>
            </a:pP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8094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{{Question ouverte 2}}</a:t>
            </a:r>
            <a:pPr indent="0" marL="0">
              <a:buNone/>
            </a:pP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0390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4128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{{Question ouverte 3}}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5" name="Text 9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QUIZ FLASH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04811" y="512064"/>
            <a:ext cx="119054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5A1B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115" y="580644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0571" y="512064"/>
            <a:ext cx="8065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{{5 min}}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Question à main levée ? }}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" y="2002536"/>
            <a:ext cx="292608" cy="292608"/>
          </a:xfrm>
          <a:prstGeom prst="ellipse">
            <a:avLst/>
          </a:prstGeom>
          <a:solidFill>
            <a:srgbClr val="DCE6EA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19202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{{Réponse A}}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487168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E8F4F7"/>
          </a:solidFill>
          <a:ln w="19050">
            <a:solidFill>
              <a:srgbClr val="55A1B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" y="2569464"/>
            <a:ext cx="292608" cy="29260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4" name="Text 11"/>
          <p:cNvSpPr/>
          <p:nvPr/>
        </p:nvSpPr>
        <p:spPr>
          <a:xfrm>
            <a:off x="676656" y="2569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5568" y="2487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{{Réponse B}}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2606040"/>
            <a:ext cx="219456" cy="21945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" y="3054096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76656" y="3136392"/>
            <a:ext cx="292608" cy="292608"/>
          </a:xfrm>
          <a:prstGeom prst="ellipse">
            <a:avLst/>
          </a:prstGeom>
          <a:solidFill>
            <a:srgbClr val="DCE6EA"/>
          </a:solidFill>
          <a:ln/>
        </p:spPr>
      </p:sp>
      <p:sp>
        <p:nvSpPr>
          <p:cNvPr id="19" name="Text 15"/>
          <p:cNvSpPr/>
          <p:nvPr/>
        </p:nvSpPr>
        <p:spPr>
          <a:xfrm>
            <a:off x="676656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115568" y="305409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{{Réponse C}}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8640" y="3621024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6656" y="3703320"/>
            <a:ext cx="292608" cy="292608"/>
          </a:xfrm>
          <a:prstGeom prst="ellipse">
            <a:avLst/>
          </a:prstGeom>
          <a:solidFill>
            <a:srgbClr val="DCE6EA"/>
          </a:solidFill>
          <a:ln/>
        </p:spPr>
      </p:sp>
      <p:sp>
        <p:nvSpPr>
          <p:cNvPr id="23" name="Text 19"/>
          <p:cNvSpPr/>
          <p:nvPr/>
        </p:nvSpPr>
        <p:spPr>
          <a:xfrm>
            <a:off x="676656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115568" y="362102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{{Réponse D}}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48640" y="424281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Réponse : 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{{B}} — {{explication courte}}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7" name="Text 23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17981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2179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À RETENIR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04811" y="512064"/>
            <a:ext cx="119054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5A1B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115" y="580644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0571" y="512064"/>
            <a:ext cx="8065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{{5 min}}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Les 3 messages clés</a:t>
            </a:r>
            <a:endParaRPr lang="en-US" sz="2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5798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1874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{{Message clé 1}}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{{précision}}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8094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{{Message clé 2}}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{{précision}}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0390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4128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{{Message clé 3}}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{{précision}}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5" name="Text 9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13002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130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PLAN D'ACTION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33488" y="512064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5A1B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580644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99248" y="512064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{{10 min}}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Et concrètement, dès demain ?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Quoi 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0" y="1965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Qui 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75120" y="1965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Quand ?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368296"/>
            <a:ext cx="8046720" cy="0"/>
          </a:xfrm>
          <a:prstGeom prst="line">
            <a:avLst/>
          </a:prstGeom>
          <a:noFill/>
          <a:ln w="19050">
            <a:solidFill>
              <a:srgbClr val="55A1B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5328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{{Action 1}}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754880" y="2532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{{Moi}}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675120" y="2532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{{Cette semaine}}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2990088"/>
            <a:ext cx="80467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0998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{{Action 2}}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54880" y="30998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{{Moi}}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675120" y="30998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{{Ce mois-ci}}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557016"/>
            <a:ext cx="80467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6667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{{Action 3}}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754880" y="36667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{{Équipe}}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75120" y="36667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{{Ce trimestre}}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48640" y="4123944"/>
            <a:ext cx="80467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5" name="Text 22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269480" y="1508760"/>
            <a:ext cx="1280160" cy="1280160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745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965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Merci pour votre énergie !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3017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Pensez à l'évaluation à chaud — vos retours nourrissent la suite. On reste en contact.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069080"/>
            <a:ext cx="2194560" cy="530352"/>
          </a:xfrm>
          <a:prstGeom prst="roundRect">
            <a:avLst>
              <a:gd name="adj" fmla="val 50000"/>
            </a:avLst>
          </a:prstGeom>
          <a:solidFill>
            <a:srgbClr val="F8B044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0690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Évaluer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425196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63240" y="406908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Support &amp; ressources : {{lien}}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TLS — Formation présentiel (gabarit animateur)</dc:title>
  <dc:subject>PptxGenJS Presentation</dc:subject>
  <dc:creator>The Learning Society</dc:creator>
  <cp:lastModifiedBy>The Learning Society</cp:lastModifiedBy>
  <cp:revision>1</cp:revision>
  <dcterms:created xsi:type="dcterms:W3CDTF">2026-06-16T17:07:23Z</dcterms:created>
  <dcterms:modified xsi:type="dcterms:W3CDTF">2026-06-16T17:07:23Z</dcterms:modified>
</cp:coreProperties>
</file>