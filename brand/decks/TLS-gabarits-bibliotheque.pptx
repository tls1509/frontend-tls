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28016" cy="128016"/>
          </a:xfrm>
          <a:prstGeom prst="ellipse">
            <a:avLst/>
          </a:prstGeom>
          <a:solidFill>
            <a:srgbClr val="F8B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4206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2212848"/>
            <a:ext cx="1828800" cy="20117"/>
          </a:xfrm>
          <a:prstGeom prst="rect">
            <a:avLst/>
          </a:prstGeom>
          <a:solidFill>
            <a:srgbClr val="ED84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3957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PRÉSENTATION COMMERCIALE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706624"/>
            <a:ext cx="74980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Construire l'organisation</a:t>
            </a:r>
            <a:endParaRPr lang="en-US" sz="46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apprenante de demain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12064" y="42062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Formation</a:t>
            </a:r>
            <a:pPr indent="0" marL="0">
              <a:buNone/>
            </a:pPr>
            <a:r>
              <a:rPr lang="en-US" sz="1350" dirty="0">
                <a:solidFill>
                  <a:srgbClr val="73AF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· 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Accompagnement</a:t>
            </a:r>
            <a:pPr indent="0" marL="0">
              <a:buNone/>
            </a:pPr>
            <a:r>
              <a:rPr lang="en-US" sz="1350" dirty="0">
                <a:solidFill>
                  <a:srgbClr val="73AF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· 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Learning App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217920" y="475488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EC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2026  ·  thelearningsociety.fr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28016" cy="128016"/>
          </a:xfrm>
          <a:prstGeom prst="ellipse">
            <a:avLst/>
          </a:prstGeom>
          <a:solidFill>
            <a:srgbClr val="F8B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4206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56032" y="100584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0" b="1" dirty="0">
                <a:solidFill>
                  <a:srgbClr val="3D7786">
                    <a:alpha val="32000"/>
                  </a:srgbClr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2026</a:t>
            </a:r>
            <a:endParaRPr lang="en-US" sz="11800" dirty="0"/>
          </a:p>
        </p:txBody>
      </p:sp>
      <p:sp>
        <p:nvSpPr>
          <p:cNvPr id="5" name="Text 3"/>
          <p:cNvSpPr/>
          <p:nvPr/>
        </p:nvSpPr>
        <p:spPr>
          <a:xfrm>
            <a:off x="512064" y="43891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EC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thelearningsociety.fr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17720" y="1572768"/>
            <a:ext cx="1463040" cy="14630"/>
          </a:xfrm>
          <a:prstGeom prst="rect">
            <a:avLst/>
          </a:prstGeom>
          <a:solidFill>
            <a:srgbClr val="55A1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173736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Construire l'organisation</a:t>
            </a:r>
            <a:endParaRPr lang="en-US" sz="3800" dirty="0"/>
          </a:p>
          <a:p>
            <a:pPr indent="0" marL="0">
              <a:lnSpc>
                <a:spcPct val="97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apprenante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617720" y="3474720"/>
            <a:ext cx="640080" cy="16459"/>
          </a:xfrm>
          <a:prstGeom prst="rect">
            <a:avLst/>
          </a:prstGeom>
          <a:solidFill>
            <a:srgbClr val="ED84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3657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Formation · Accompagnement · Learning App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  ·  2 / 17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128016" cy="128016"/>
          </a:xfrm>
          <a:prstGeom prst="ellipse">
            <a:avLst/>
          </a:prstGeom>
          <a:solidFill>
            <a:srgbClr val="F8B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84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834640" y="841248"/>
            <a:ext cx="3474720" cy="18288"/>
          </a:xfrm>
          <a:prstGeom prst="rect">
            <a:avLst/>
          </a:prstGeom>
          <a:solidFill>
            <a:srgbClr val="ED84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87552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La plateforme de</a:t>
            </a:r>
            <a:endParaRPr lang="en-US" sz="5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5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l'organisation</a:t>
            </a:r>
            <a:endParaRPr lang="en-US" sz="5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5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apprenante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Formation · Accompagnement · Learning 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  ·  3 / 17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-54864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3D7786">
                    <a:alpha val="45000"/>
                  </a:srgbClr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01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2128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9FBEC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AU PROGRAMME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2487168"/>
            <a:ext cx="1280160" cy="18288"/>
          </a:xfrm>
          <a:prstGeom prst="rect">
            <a:avLst/>
          </a:prstGeom>
          <a:solidFill>
            <a:srgbClr val="F8B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33472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Le contexte &amp;</a:t>
            </a:r>
            <a:endParaRPr lang="en-US" sz="48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les enjeux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EC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  ·  4 / 17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365760" y="-45720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DCEBE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02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2128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NOTRE APPROCHE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2487168"/>
            <a:ext cx="1280160" cy="18288"/>
          </a:xfrm>
          <a:prstGeom prst="rect">
            <a:avLst/>
          </a:prstGeom>
          <a:solidFill>
            <a:srgbClr val="ED84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33472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4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Ce que nous</a:t>
            </a:r>
            <a:endParaRPr lang="en-US" sz="48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4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proposons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  ·  5 / 17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28016" cy="128016"/>
          </a:xfrm>
          <a:prstGeom prst="ellipse">
            <a:avLst/>
          </a:prstGeom>
          <a:solidFill>
            <a:srgbClr val="F8B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463040" cy="16459"/>
          </a:xfrm>
          <a:prstGeom prst="rect">
            <a:avLst/>
          </a:prstGeom>
          <a:solidFill>
            <a:srgbClr val="ED84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9264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Le défi</a:t>
            </a:r>
            <a:endParaRPr lang="en-US" sz="3200" dirty="0"/>
          </a:p>
          <a:p>
            <a:pPr indent="0" marL="0">
              <a:lnSpc>
                <a:spcPct val="97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du moment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0848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i="1" dirty="0">
                <a:solidFill>
                  <a:srgbClr val="3D7786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“Les entreprises forment, mais les compétences ne suivent pas le rythme du marché.”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02920" y="31089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 2026, 40 % des compétences techniques deviennent obsolètes en moins de 18 mois. Les organisations qui ne renforcent pas leur capacité à apprendre en continu prennent du retard.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914400"/>
            <a:ext cx="10973" cy="3931920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914400"/>
            <a:ext cx="4114800" cy="12802"/>
          </a:xfrm>
          <a:prstGeom prst="rect">
            <a:avLst/>
          </a:prstGeom>
          <a:solidFill>
            <a:srgbClr val="55A1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97840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Formation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0" y="13716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 parcours certifiants co-construits avec des experts métier. Courts, actionnables, mis à jour chaque trimestre.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304288"/>
            <a:ext cx="4114800" cy="12802"/>
          </a:xfrm>
          <a:prstGeom prst="rect">
            <a:avLst/>
          </a:prstGeom>
          <a:solidFill>
            <a:srgbClr val="96C3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3682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Accompagnement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276148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Du coaching 1-1 et des corrections personnalisées à chaque étape. L'humain au centre de l'apprentissage.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3694176"/>
            <a:ext cx="4114800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75818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Learning App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0" y="4151376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Une application mobile-first gamifiée pour ancrer les acquis au quotidien, en autonomie.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  ·  6 / 17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28016" cy="128016"/>
          </a:xfrm>
          <a:prstGeom prst="ellipse">
            <a:avLst/>
          </a:prstGeom>
          <a:solidFill>
            <a:srgbClr val="F8B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RÉSULTATS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280160" cy="16459"/>
          </a:xfrm>
          <a:prstGeom prst="rect">
            <a:avLst/>
          </a:prstGeom>
          <a:solidFill>
            <a:srgbClr val="ED84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L'impact, en chiffres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02920" y="2304288"/>
            <a:ext cx="2560320" cy="14630"/>
          </a:xfrm>
          <a:prstGeom prst="rect">
            <a:avLst/>
          </a:prstGeom>
          <a:solidFill>
            <a:srgbClr val="55A1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774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1D5D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68833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+38 %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502920" y="35844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d'engagement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formation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19272" y="2304288"/>
            <a:ext cx="2560320" cy="14630"/>
          </a:xfrm>
          <a:prstGeom prst="rect">
            <a:avLst/>
          </a:prstGeom>
          <a:solidFill>
            <a:srgbClr val="96C3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23774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1D5D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19272" y="268833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D7786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92 %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3319272" y="35844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taux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complétion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35624" y="2304288"/>
            <a:ext cx="2560320" cy="14630"/>
          </a:xfrm>
          <a:prstGeom prst="rect">
            <a:avLst/>
          </a:prstGeom>
          <a:solidFill>
            <a:srgbClr val="ED84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35624" y="23774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1D5D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35624" y="268833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06920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4,8/5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6135624" y="35844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satisfaction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apprenants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451713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1D5D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Données illustratives — à remplacer par vos chiffres réels.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  ·  7 / 17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28016" cy="128016"/>
          </a:xfrm>
          <a:prstGeom prst="ellipse">
            <a:avLst/>
          </a:prstGeom>
          <a:solidFill>
            <a:srgbClr val="F8B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1097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B9D7D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«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F3E45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L'apprentissage continu n'est plus</a:t>
            </a:r>
            <a:endParaRPr lang="en-US" sz="2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F3E45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un avantage compétitif — c'est</a:t>
            </a:r>
            <a:endParaRPr lang="en-US" sz="2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F3E45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une condition de survie.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3401568"/>
            <a:ext cx="1280160" cy="18288"/>
          </a:xfrm>
          <a:prstGeom prst="rect">
            <a:avLst/>
          </a:prstGeom>
          <a:solidFill>
            <a:srgbClr val="ED84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5478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Direction RH, entreprise CAC 40  ·  2025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  ·  8 / 17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28016" cy="128016"/>
          </a:xfrm>
          <a:prstGeom prst="ellipse">
            <a:avLst/>
          </a:prstGeom>
          <a:solidFill>
            <a:srgbClr val="F8B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NOS PILIERS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Trois leviers pour une organisation apprenante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901952"/>
            <a:ext cx="2596896" cy="14630"/>
          </a:xfrm>
          <a:prstGeom prst="rect">
            <a:avLst/>
          </a:prstGeom>
          <a:solidFill>
            <a:srgbClr val="55A1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6596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2249424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Formation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02920" y="2779776"/>
            <a:ext cx="25968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 parcours courts et certifiants, co-construits avec des experts métier. Mis à jour chaque trimestre pour suivre l'évolution des métiers.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9272" y="1901952"/>
            <a:ext cx="2596896" cy="14630"/>
          </a:xfrm>
          <a:prstGeom prst="rect">
            <a:avLst/>
          </a:prstGeom>
          <a:solidFill>
            <a:srgbClr val="96C3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96596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55A1B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19272" y="2249424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Accompagnement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319272" y="2779776"/>
            <a:ext cx="25968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Coaching 1-1, corrections personnalisées, suivi de progression. L'humain au centre de chaque parcours d'apprentissage.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35624" y="1901952"/>
            <a:ext cx="2596896" cy="14630"/>
          </a:xfrm>
          <a:prstGeom prst="rect">
            <a:avLst/>
          </a:prstGeom>
          <a:solidFill>
            <a:srgbClr val="ED84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35624" y="196596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0692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135624" y="2249424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Learning App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135624" y="2779776"/>
            <a:ext cx="25968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Mobile-first, gamifiée, intégrée aux outils existants. L'apprentissage s'inscrit dans les pratiques quotidiennes.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  ·  9 / 17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28016" cy="128016"/>
          </a:xfrm>
          <a:prstGeom prst="ellipse">
            <a:avLst/>
          </a:prstGeom>
          <a:solidFill>
            <a:srgbClr val="F8B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MÉTHODOLOGIE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Un parcours en 4 étapes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04672" y="2505456"/>
            <a:ext cx="7534656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8176" y="2194560"/>
            <a:ext cx="365760" cy="365760"/>
          </a:xfrm>
          <a:prstGeom prst="ellipse">
            <a:avLst/>
          </a:prstGeom>
          <a:solidFill>
            <a:srgbClr val="4A8F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8176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06624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Diagnostic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090672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Audit des compétences actuelles et des besoins stratégiques.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84448" y="219456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6C3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16352" y="2706624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Conception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16352" y="3090672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Co-design des parcours avec vos experts métier.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60720" y="219456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6C3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92624" y="2706624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Déploiement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92624" y="3090672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Lancement, onboarding et activation des apprenants.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36992" y="219456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6C3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36992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68896" y="2706624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Mesure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68896" y="3090672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Suivi des indicateurs et ajustement continu.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  ·  10 / 17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28016" cy="128016"/>
          </a:xfrm>
          <a:prstGeom prst="ellipse">
            <a:avLst/>
          </a:prstGeom>
          <a:solidFill>
            <a:srgbClr val="F8B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5953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Avant vs. Après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17136" y="1572768"/>
            <a:ext cx="10973" cy="3291840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910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 DÉFI ACTUEL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2029968"/>
            <a:ext cx="365760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03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Formations longues et peu actionnables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980944"/>
            <a:ext cx="365760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054096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Pas de suivi individualisé de la progression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931920"/>
            <a:ext cx="365760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00507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Compétences difficiles à mesurer et valoriser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73168" y="15910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NOTRE RÉPONSE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73168" y="2029968"/>
            <a:ext cx="3913632" cy="10973"/>
          </a:xfrm>
          <a:prstGeom prst="rect">
            <a:avLst/>
          </a:prstGeom>
          <a:solidFill>
            <a:srgbClr val="96C3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210312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Parcours courts, certifiants et mis à jour en continu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73168" y="2980944"/>
            <a:ext cx="3913632" cy="10973"/>
          </a:xfrm>
          <a:prstGeom prst="rect">
            <a:avLst/>
          </a:prstGeom>
          <a:solidFill>
            <a:srgbClr val="96C3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3054096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Coaching 1-1 et corrections personnalisées par expert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73168" y="3931920"/>
            <a:ext cx="3913632" cy="10973"/>
          </a:xfrm>
          <a:prstGeom prst="rect">
            <a:avLst/>
          </a:prstGeom>
          <a:solidFill>
            <a:srgbClr val="96C3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4005072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Passeport compétences intégré et exportable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  ·  11 / 17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28016" cy="128016"/>
          </a:xfrm>
          <a:prstGeom prst="ellipse">
            <a:avLst/>
          </a:prstGeom>
          <a:solidFill>
            <a:srgbClr val="F8B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54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L'apprentissage </a:t>
            </a:r>
            <a:pPr indent="0" marL="0">
              <a:lnSpc>
                <a:spcPct val="96000"/>
              </a:lnSpc>
              <a:buNone/>
            </a:pPr>
            <a:r>
              <a:rPr lang="en-US" sz="5400" b="1" dirty="0">
                <a:solidFill>
                  <a:srgbClr val="4A8FA1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continu</a:t>
            </a:r>
            <a:pPr indent="0" marL="0">
              <a:lnSpc>
                <a:spcPct val="96000"/>
              </a:lnSpc>
              <a:buNone/>
            </a:pPr>
            <a:endParaRPr lang="en-US" sz="54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54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change tout.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02920" y="3182112"/>
            <a:ext cx="81381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3467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50" kern="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01  Engagement · rétention · performance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3657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50" kern="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02  Des compétences mesurables, valorisables, exportables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39684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50" kern="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03  Un avantage compétitif documenté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  ·  12 / 17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28016" cy="128016"/>
          </a:xfrm>
          <a:prstGeom prst="ellipse">
            <a:avLst/>
          </a:prstGeom>
          <a:solidFill>
            <a:srgbClr val="F8B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L'ÉQUIPE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Des expertises complémentaires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975104"/>
            <a:ext cx="3840480" cy="12802"/>
          </a:xfrm>
          <a:prstGeom prst="rect">
            <a:avLst/>
          </a:prstGeom>
          <a:solidFill>
            <a:srgbClr val="73AF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482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Chloé M.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Fondatrice &amp; CEO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6334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 ans en EdTech B2B. Ancienne resp. L&amp;D CAC 40. Spécialiste organisation apprenante.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975104"/>
            <a:ext cx="3840480" cy="12802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0482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Nom Prénom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800600" y="23774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Directeur Pédagogique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00600" y="26334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Expert en ingénierie pédagogique. 200+ parcours conçus pour des ETI et grands groupes.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401568"/>
            <a:ext cx="3840480" cy="12802"/>
          </a:xfrm>
          <a:prstGeom prst="rect">
            <a:avLst/>
          </a:prstGeom>
          <a:solidFill>
            <a:srgbClr val="73AF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747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Nom Prénom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02920" y="38039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Lead Coach &amp; Qualité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05993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Coach certifiée ICF. 1 500 h d'accompagnement individuel. Spécialiste compétences soft.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401568"/>
            <a:ext cx="3840480" cy="12802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4747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Nom Prénom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4800600" y="38039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CTO &amp; Learning Engineering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405993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Full-stack developer, ex-startup SaaS RH. Architecture de la plateforme TLS depuis 2023.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  ·  13 / 17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28016" cy="128016"/>
          </a:xfrm>
          <a:prstGeom prst="ellipse">
            <a:avLst/>
          </a:prstGeom>
          <a:solidFill>
            <a:srgbClr val="F8B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OFFRES &amp; TARIFS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Choisissez votre formule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02336" y="1938528"/>
            <a:ext cx="2615184" cy="12802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202996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D1D5D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ESSENTIEL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2336" y="228600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490 €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975104" y="24871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/mois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336" y="3017520"/>
            <a:ext cx="2615184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3127248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Accès plateforme · 5 apprenants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2336" y="3392424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3 parcours inclus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3657600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Support email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2336" y="3922776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Passeport compétences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02336" y="449884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Démarrer 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36976" y="1938528"/>
            <a:ext cx="2615184" cy="25603"/>
          </a:xfrm>
          <a:prstGeom prst="rect">
            <a:avLst/>
          </a:prstGeom>
          <a:solidFill>
            <a:srgbClr val="55A1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36976" y="202996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RECOMMANDÉ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36976" y="228600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1 290 €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809744" y="24871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/mois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36976" y="3017520"/>
            <a:ext cx="2615184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36976" y="3127248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Accès plateforme · 25 apprenants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36976" y="3392424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Parcours illimités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36976" y="3657600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Coaching 1-1 mensuel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36976" y="3922776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Corrections personnalisées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36976" y="4187952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Analytics avancés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36976" y="449884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Choisir cette offre 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71616" y="1938528"/>
            <a:ext cx="2615184" cy="12802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71616" y="202996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D1D5D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ENTREPRISE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71616" y="228600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Sur devis</a:t>
            </a:r>
            <a:endParaRPr lang="en-US" sz="3400" dirty="0"/>
          </a:p>
        </p:txBody>
      </p:sp>
      <p:sp>
        <p:nvSpPr>
          <p:cNvPr id="30" name="Shape 28"/>
          <p:cNvSpPr/>
          <p:nvPr/>
        </p:nvSpPr>
        <p:spPr>
          <a:xfrm>
            <a:off x="6071616" y="3017520"/>
            <a:ext cx="2615184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71616" y="3127248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Apprenants illimités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71616" y="3392424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Accompagnement dédié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071616" y="3657600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Intégration SIRH/LMS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71616" y="3922776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SLA + support 7j/7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071616" y="4187952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Formation formateurs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071616" y="449884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Nous contacter 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  ·  14 / 17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94760" cy="5143500"/>
          </a:xfrm>
          <a:prstGeom prst="rect">
            <a:avLst/>
          </a:prstGeom>
          <a:solidFill>
            <a:srgbClr val="2F5F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38912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4A8FA1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«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92608" y="1207008"/>
            <a:ext cx="32552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i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“Depuis TLS, nos managers ont enfin un vocabulaire commun autour des compétences. Et ça, ça change tout dans les évaluations.”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292608" y="3529584"/>
            <a:ext cx="1097280" cy="16459"/>
          </a:xfrm>
          <a:prstGeom prst="rect">
            <a:avLst/>
          </a:prstGeom>
          <a:solidFill>
            <a:srgbClr val="F8B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369417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EC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Directrice RH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EC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Groupe industriel, 1 200 salariés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60520" y="402336"/>
            <a:ext cx="128016" cy="128016"/>
          </a:xfrm>
          <a:prstGeom prst="ellipse">
            <a:avLst/>
          </a:prstGeom>
          <a:solidFill>
            <a:srgbClr val="F8B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6168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60520" y="9326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CAS CLIENT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60520" y="117043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Groupe industriel</a:t>
            </a:r>
            <a:endParaRPr lang="en-US" sz="2600" dirty="0"/>
          </a:p>
          <a:p>
            <a:pPr indent="0" marL="0">
              <a:lnSpc>
                <a:spcPct val="97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1 200 collaborateurs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160520" y="2212848"/>
            <a:ext cx="457200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228600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7786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×2,4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614416" y="23042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taux d'engagement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14416" y="25603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vs. année précédente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60520" y="3090672"/>
            <a:ext cx="457200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316382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7786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89 %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614416" y="31821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rétention à 6 mois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14416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 compétences acquises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60520" y="3968496"/>
            <a:ext cx="457200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404164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7786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–18 %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614416" y="40599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turnover direction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614416" y="43159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sur le périmètre L&amp;D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  ·  15 / 17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28016" cy="128016"/>
          </a:xfrm>
          <a:prstGeom prst="ellipse">
            <a:avLst/>
          </a:prstGeom>
          <a:solidFill>
            <a:srgbClr val="F8B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 PRATIQUE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463040" cy="16459"/>
          </a:xfrm>
          <a:prstGeom prst="rect">
            <a:avLst/>
          </a:prstGeom>
          <a:solidFill>
            <a:srgbClr val="ED84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Comment ça</a:t>
            </a:r>
            <a:endParaRPr lang="en-US" sz="3000" dirty="0"/>
          </a:p>
          <a:p>
            <a:pPr indent="0" marL="0">
              <a:lnSpc>
                <a:spcPct val="97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se passe 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la signature à la première session : 10 jours ouvrés. Onboarding clé en main, sans charge IT de votre côté.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291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D1D5D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PRÊT EN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351129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10 jours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297680" y="914400"/>
            <a:ext cx="10973" cy="3931920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914400"/>
            <a:ext cx="4114800" cy="12802"/>
          </a:xfrm>
          <a:prstGeom prst="rect">
            <a:avLst/>
          </a:prstGeom>
          <a:solidFill>
            <a:srgbClr val="96C3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9875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Intégration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572000" y="1353312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Connexion SSO, import RH ou invitations manuelles. Compatible SIRH et LMS existants.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304288"/>
            <a:ext cx="4114800" cy="12802"/>
          </a:xfrm>
          <a:prstGeom prst="rect">
            <a:avLst/>
          </a:prstGeom>
          <a:solidFill>
            <a:srgbClr val="96C3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37744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Onboarding apprenants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572000" y="2743200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Positionnement initial automatisé. Parcours recommandé dès J+1. Notification et relances intégrées.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3694176"/>
            <a:ext cx="4114800" cy="12802"/>
          </a:xfrm>
          <a:prstGeom prst="rect">
            <a:avLst/>
          </a:prstGeom>
          <a:solidFill>
            <a:srgbClr val="96C3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7673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Pilotage &amp; reporting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572000" y="4133088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Dashboard manager en temps réel. Export mensuel automatique. Bilan trimestriel avec votre coach dédié.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  ·  16 / 17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28016" cy="128016"/>
          </a:xfrm>
          <a:prstGeom prst="ellipse">
            <a:avLst/>
          </a:prstGeom>
          <a:solidFill>
            <a:srgbClr val="F8B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4206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4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Et</a:t>
            </a:r>
            <a:endParaRPr lang="en-US" sz="72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maintenant ?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502920" y="3218688"/>
            <a:ext cx="2194560" cy="20117"/>
          </a:xfrm>
          <a:prstGeom prst="rect">
            <a:avLst/>
          </a:prstGeom>
          <a:solidFill>
            <a:srgbClr val="F8B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401568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FBEC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 appel de 30 min pour comprendre votre contexte et vous proposer une roadmap sur-mesure — sans engagement.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4169664"/>
            <a:ext cx="2651760" cy="512064"/>
          </a:xfrm>
          <a:prstGeom prst="rect">
            <a:avLst/>
          </a:prstGeom>
          <a:solidFill>
            <a:srgbClr val="ED84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16966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Prendre rendez-vous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42793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EC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chloe@thelearningsociety.fr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Gabarits TLS — bibliothèque éditoriale 2026</dc:title>
  <dc:subject>PptxGenJS Presentation</dc:subject>
  <dc:creator>The Learning Society</dc:creator>
  <cp:lastModifiedBy>The Learning Society</cp:lastModifiedBy>
  <cp:revision>1</cp:revision>
  <dcterms:created xsi:type="dcterms:W3CDTF">2026-06-22T13:56:50Z</dcterms:created>
  <dcterms:modified xsi:type="dcterms:W3CDTF">2026-06-22T13:56:50Z</dcterms:modified>
</cp:coreProperties>
</file>