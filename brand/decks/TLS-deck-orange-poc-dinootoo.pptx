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49440" y="347472"/>
            <a:ext cx="1901952" cy="384048"/>
          </a:xfrm>
          <a:prstGeom prst="roundRect">
            <a:avLst>
              <a:gd name="adj" fmla="val 28571"/>
            </a:avLst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34747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× Orange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BILAN POST-POC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7863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Ingénieur pédagogique</a:t>
            </a:r>
            <a:endParaRPr lang="en-US" sz="4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augmenté avec Dinootoo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1513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Résultats</a:t>
            </a:r>
            <a:pPr indent="0" marL="0">
              <a:buNone/>
            </a:pPr>
            <a:r>
              <a:rPr lang="en-US" sz="130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Apprentissages</a:t>
            </a:r>
            <a:pPr indent="0" marL="0">
              <a:buNone/>
            </a:pPr>
            <a:r>
              <a:rPr lang="en-US" sz="1300" dirty="0">
                <a:solidFill>
                  <a:srgbClr val="55A1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45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Juin 2026  ·  thelearningsociety.fr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SOMMAIRE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Au programme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512064" cy="512064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9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5296" y="1572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contexte du POC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5296" y="18928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Pourquoi Orange, pourquoi Dinootoo 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822960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9152"/>
            <a:ext cx="512064" cy="512064"/>
          </a:xfrm>
          <a:prstGeom prst="ellipse">
            <a:avLst/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322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qu'on a construit ensemble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5296" y="2642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parcours, le périmètre, l'expérience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822960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512064" cy="512064"/>
          </a:xfrm>
          <a:prstGeom prst="ellipse">
            <a:avLst/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3072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Résultats &amp; apprentissages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5296" y="3392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Chiffres clés, retours terrain, insights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822960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58768"/>
            <a:ext cx="512064" cy="512064"/>
          </a:xfrm>
          <a:prstGeom prst="ellipse">
            <a:avLst/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25296" y="3822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Et maintenant 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296" y="4142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Roadmap, proposition de suite, next steps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2/12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CONTEXTE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Un vrai besoin terrain, une réponse sur mesure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393192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9344"/>
            <a:ext cx="91440" cy="3090672"/>
          </a:xfrm>
          <a:prstGeom prst="rect">
            <a:avLst/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739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 constat Orange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" y="2249424"/>
            <a:ext cx="164592" cy="164592"/>
          </a:xfrm>
          <a:prstGeom prst="ellipse">
            <a:avLst/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76272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Les ingénieurs pédagogiques produisent des contenus de + en + complexes, avec des délais raccourcis.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" y="2962656"/>
            <a:ext cx="164592" cy="164592"/>
          </a:xfrm>
          <a:prstGeom prst="ellipse">
            <a:avLst/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889504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L'IA générative crée de nouvelles opportunités mais aussi de nouveaux risques qualité.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" y="3675888"/>
            <a:ext cx="164592" cy="164592"/>
          </a:xfrm>
          <a:prstGeom prst="ellipse">
            <a:avLst/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0273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Besoin : former les IP à maîtriser Dinootoo sans perdre leur posture critique d'expert.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36592" y="1609344"/>
            <a:ext cx="393192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609344"/>
            <a:ext cx="91440" cy="3090672"/>
          </a:xfrm>
          <a:prstGeom prst="rect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7739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Notre réponse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01768" y="2249424"/>
            <a:ext cx="164592" cy="164592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176272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parcours certifiant de 40h, co-construit avec Orange, ancré dans leurs cas d'usage réels.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01768" y="2962656"/>
            <a:ext cx="164592" cy="164592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889504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étapes progressives : de la découverte Dinootoo à la production autonome en situation pro.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01768" y="3675888"/>
            <a:ext cx="164592" cy="164592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3602736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Une Learning App mobile-first avec suivi de progression, badges et coaching intégré.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3/12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A556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30352" y="1481328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qu'on a</a:t>
            </a:r>
            <a:endParaRPr lang="en-US" sz="48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construit ensemble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Parcours · Périmètre · Expérience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PARCOURS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40h pour maîtriser l'IA en ingénierie pédagogique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96312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694944" cy="694944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76856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2935224"/>
            <a:ext cx="1984248" cy="274320"/>
          </a:xfrm>
          <a:prstGeom prst="roundRect">
            <a:avLst>
              <a:gd name="adj" fmla="val 26667"/>
            </a:avLst>
          </a:prstGeom>
          <a:solidFill>
            <a:srgbClr val="E8F4F7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Étapes 1-2 · 16h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3337560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Ingénierie augmentée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776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IA générative appliquée à la pédagogie. Posture critique, usages responsables et limites.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9272" y="1783080"/>
            <a:ext cx="2496312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093976"/>
            <a:ext cx="694944" cy="694944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276856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75304" y="2935224"/>
            <a:ext cx="1984248" cy="274320"/>
          </a:xfrm>
          <a:prstGeom prst="roundRect">
            <a:avLst>
              <a:gd name="adj" fmla="val 26667"/>
            </a:avLst>
          </a:prstGeom>
          <a:solidFill>
            <a:srgbClr val="E8F4F7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75304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Étapes 3-4 · 18h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75304" y="3337560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Maîtrise de Dinootoo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593592" y="3776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Prise en main avancée : prompting structuré, co-création de contenus, contrôle qualité.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9904" y="1783080"/>
            <a:ext cx="2496312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2093976"/>
            <a:ext cx="694944" cy="694944"/>
          </a:xfrm>
          <a:prstGeom prst="ellipse">
            <a:avLst/>
          </a:prstGeom>
          <a:solidFill>
            <a:srgbClr val="3D778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76856"/>
            <a:ext cx="329184" cy="3291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45936" y="2935224"/>
            <a:ext cx="1984248" cy="274320"/>
          </a:xfrm>
          <a:prstGeom prst="roundRect">
            <a:avLst>
              <a:gd name="adj" fmla="val 26667"/>
            </a:avLst>
          </a:prstGeom>
          <a:solidFill>
            <a:srgbClr val="E8F4F7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45936" y="293522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Étape 5 · 6h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45936" y="3337560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Production autonome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364224" y="3776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Projets réels Orange. Feedback pairs + coaching TLS. Validation Open Badge 2.0.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5/12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RÉSULTATS DU POC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L'impact, en chiffres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96312" cy="252374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39696"/>
            <a:ext cx="585216" cy="585216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8</a:t>
            </a:r>
            <a:pPr indent="0" marL="0">
              <a:buNone/>
            </a:pP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547872"/>
            <a:ext cx="1984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ingénieurs pédagogiques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formés sur la cohorte beta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496312" cy="252374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2139696"/>
            <a:ext cx="585216" cy="585216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2951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40</a:t>
            </a:r>
            <a:pPr indent="0" marL="0">
              <a:buNone/>
            </a:pPr>
            <a:r>
              <a:rPr lang="en-US" sz="22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h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3593592" y="3547872"/>
            <a:ext cx="1984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parcours certifiant,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avec projets réels Orange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496312" cy="252374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139696"/>
            <a:ext cx="585216" cy="585216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951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8346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4,6</a:t>
            </a:r>
            <a:pPr indent="0" marL="0">
              <a:buNone/>
            </a:pPr>
            <a:r>
              <a:rPr lang="en-US" sz="22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/5</a:t>
            </a:r>
            <a:endParaRPr lang="en-US" sz="4600" dirty="0"/>
          </a:p>
        </p:txBody>
      </p:sp>
      <p:sp>
        <p:nvSpPr>
          <p:cNvPr id="18" name="Text 13"/>
          <p:cNvSpPr/>
          <p:nvPr/>
        </p:nvSpPr>
        <p:spPr>
          <a:xfrm>
            <a:off x="6364224" y="3547872"/>
            <a:ext cx="1984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satisfaction moyenne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apprenants (à confirmer)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4439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Données à confirmer avec l'équipe Orange avant diffusion externe.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6/12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8B044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7955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 ne s'attendait pas à ce que la Learning App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soit aussi intuitive. Les apprenants ont terminé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modules 30 % plus vite que prévu.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0352" y="2980944"/>
            <a:ext cx="1828800" cy="45720"/>
          </a:xfrm>
          <a:prstGeom prst="rect">
            <a:avLst/>
          </a:prstGeom>
          <a:solidFill>
            <a:srgbClr val="F8B044"/>
          </a:solidFill>
          <a:ln w="12700">
            <a:solidFill>
              <a:srgbClr val="F8B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Responsable Formation, Direction Digitale Orange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1148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1480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B044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Insight clé 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L'ancrage projet réel (cas Orange) est le facteur de transfert #1. Sans lui, la formation reste théorique.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APPRENTISSAGES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vivaient les équipes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3822192" cy="3090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9344"/>
            <a:ext cx="3822192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Avant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" y="2221992"/>
            <a:ext cx="164592" cy="164592"/>
          </a:xfrm>
          <a:prstGeom prst="ellipse">
            <a:avLst/>
          </a:prstGeom>
          <a:solidFill>
            <a:srgbClr val="F28559"/>
          </a:solidFill>
          <a:ln w="12700">
            <a:solidFill>
              <a:srgbClr val="F28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176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 On voit monter en compétence sans savoir par où commencer 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" y="2807208"/>
            <a:ext cx="164592" cy="164592"/>
          </a:xfrm>
          <a:prstGeom prst="ellipse">
            <a:avLst/>
          </a:prstGeom>
          <a:solidFill>
            <a:srgbClr val="F28559"/>
          </a:solidFill>
          <a:ln w="12700">
            <a:solidFill>
              <a:srgbClr val="F28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contenus génériques déconnectés du terrain Orange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" y="3392424"/>
            <a:ext cx="164592" cy="164592"/>
          </a:xfrm>
          <a:prstGeom prst="ellipse">
            <a:avLst/>
          </a:prstGeom>
          <a:solidFill>
            <a:srgbClr val="F28559"/>
          </a:solidFill>
          <a:ln w="12700">
            <a:solidFill>
              <a:srgbClr val="F285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3467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Pas de suivi de progression clair pour les managers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" y="3977640"/>
            <a:ext cx="164592" cy="164592"/>
          </a:xfrm>
          <a:prstGeom prst="ellipse">
            <a:avLst/>
          </a:prstGeom>
          <a:solidFill>
            <a:srgbClr val="F28559"/>
          </a:solidFill>
          <a:ln w="12700">
            <a:solidFill>
              <a:srgbClr val="F28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Difficile de prouver l'impact RH de la formation 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26864" y="1609344"/>
            <a:ext cx="4041648" cy="3090672"/>
          </a:xfrm>
          <a:prstGeom prst="roundRect">
            <a:avLst/>
          </a:prstGeom>
          <a:solidFill>
            <a:srgbClr val="E8F4F7"/>
          </a:solidFill>
          <a:ln w="12700">
            <a:solidFill>
              <a:srgbClr val="DCEB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09344"/>
            <a:ext cx="4041648" cy="475488"/>
          </a:xfrm>
          <a:prstGeom prst="rect">
            <a:avLst/>
          </a:prstGeom>
          <a:solidFill>
            <a:srgbClr val="DCEBEF"/>
          </a:solidFill>
          <a:ln w="12700">
            <a:solidFill>
              <a:srgbClr val="DCEB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6093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78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Avec TLS + Dinootoo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18888" y="2221992"/>
            <a:ext cx="164592" cy="164592"/>
          </a:xfrm>
          <a:prstGeom prst="ellipse">
            <a:avLst/>
          </a:prstGeom>
          <a:solidFill>
            <a:srgbClr val="9DBEBA"/>
          </a:solidFill>
          <a:ln w="12700">
            <a:solidFill>
              <a:srgbClr val="9DBE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2176272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parcours structuré ancré dans leurs vrais projets Orange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18888" y="2807208"/>
            <a:ext cx="164592" cy="164592"/>
          </a:xfrm>
          <a:prstGeom prst="ellipse">
            <a:avLst/>
          </a:prstGeom>
          <a:solidFill>
            <a:srgbClr val="9DBEBA"/>
          </a:solidFill>
          <a:ln w="12700">
            <a:solidFill>
              <a:srgbClr val="9DBE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761488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compétences validées par Open Badge 2.0 (traçabilité RH)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18888" y="3392424"/>
            <a:ext cx="164592" cy="164592"/>
          </a:xfrm>
          <a:prstGeom prst="ellipse">
            <a:avLst/>
          </a:prstGeom>
          <a:solidFill>
            <a:srgbClr val="9DBEBA"/>
          </a:solidFill>
          <a:ln w="12700">
            <a:solidFill>
              <a:srgbClr val="9DBE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3346704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Tableau de bord manager : progression visible en temps réel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18888" y="3977640"/>
            <a:ext cx="164592" cy="164592"/>
          </a:xfrm>
          <a:prstGeom prst="ellipse">
            <a:avLst/>
          </a:prstGeom>
          <a:solidFill>
            <a:srgbClr val="9DBEBA"/>
          </a:solidFill>
          <a:ln w="12700">
            <a:solidFill>
              <a:srgbClr val="9DBE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3931920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52B3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 compétences immédiatement réinvesties sur leur poste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8/12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LEARNING APP TLS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les apprenants ont vécu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1363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56816"/>
            <a:ext cx="548640" cy="54864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103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188366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Parcours guidé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90472" y="2231136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étapes progressives, débloquées au fur et à mesure. Mobile-first, accessible offline.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645920"/>
            <a:ext cx="391363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5192" y="1956816"/>
            <a:ext cx="548640" cy="548640"/>
          </a:xfrm>
          <a:prstGeom prst="ellipse">
            <a:avLst/>
          </a:prstGeom>
          <a:solidFill>
            <a:srgbClr val="ED84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1031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96712" y="188366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Contenus contextualisés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96712" y="2231136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Leçons adaptées aux cas d'usage Orange. Exercices pratiques Dinootoo inclus.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273552"/>
            <a:ext cx="391363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584448"/>
            <a:ext cx="548640" cy="548640"/>
          </a:xfrm>
          <a:prstGeom prst="ellipse">
            <a:avLst/>
          </a:prstGeom>
          <a:solidFill>
            <a:srgbClr val="3D77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351129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Coaching intégré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90472" y="3858768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Messagerie directe avec les coachs TLS. Corrections personnalisées en 48h.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273552"/>
            <a:ext cx="391363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5192" y="3584448"/>
            <a:ext cx="548640" cy="548640"/>
          </a:xfrm>
          <a:prstGeom prst="ellipse">
            <a:avLst/>
          </a:prstGeom>
          <a:solidFill>
            <a:srgbClr val="C069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7307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96712" y="351129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Passeport compétences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96712" y="3858768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Badges Open Badge 2.0 par étape. Dashboard progression pour managers.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9/12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766560" y="29260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2A556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30352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Et maintenant ?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Roadmap · Proposition ·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PROCHAINES ÉTAPES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B37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suite logique en 4 temps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2505456"/>
            <a:ext cx="7552944" cy="0"/>
          </a:xfrm>
          <a:prstGeom prst="line">
            <a:avLst/>
          </a:prstGeom>
          <a:noFill/>
          <a:ln w="25400">
            <a:solidFill>
              <a:srgbClr val="DCEB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276856"/>
            <a:ext cx="457200" cy="457200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15727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Juillet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" y="288950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Bilan &amp; ajustements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6072" y="3310128"/>
            <a:ext cx="1993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Réunion de clôture POC. Collecte retours IP + managers. Ajustements contenus.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2276856"/>
            <a:ext cx="457200" cy="457200"/>
          </a:xfrm>
          <a:prstGeom prst="ellipse">
            <a:avLst/>
          </a:prstGeom>
          <a:solidFill>
            <a:srgbClr val="4A8FA1"/>
          </a:solidFill>
          <a:ln w="12700">
            <a:solidFill>
              <a:srgbClr val="4A8F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52344" y="15727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8FA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Sept.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9192" y="288950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Cohorte 2 Orange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79192" y="3310128"/>
            <a:ext cx="1993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Ouverture à 20 IP supplémentaires. Parcours enrichi avec retours cohorte 1.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76088" y="2276856"/>
            <a:ext cx="457200" cy="457200"/>
          </a:xfrm>
          <a:prstGeom prst="ellipse">
            <a:avLst/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5464" y="15727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84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Oct.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288950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Déploiement Learning 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82312" y="3310128"/>
            <a:ext cx="1993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Intégration LMS Orange ou accès direct TLS. Dashboard DRH activé.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79208" y="2276856"/>
            <a:ext cx="457200" cy="457200"/>
          </a:xfrm>
          <a:prstGeom prst="ellipse">
            <a:avLst/>
          </a:prstGeom>
          <a:solidFill>
            <a:srgbClr val="F8B044"/>
          </a:solidFill>
          <a:ln w="12700">
            <a:solidFill>
              <a:srgbClr val="F8B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58584" y="15727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T1 2027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85432" y="288950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Commercialisation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85432" y="3310128"/>
            <a:ext cx="1993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Ouverture catalogue TLS + autres OF. Business case documenté avec chiffres Orange.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4CB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C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11/12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Continuons ensemble.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C4DD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Orange × TLS — vers une collaboration durable sur la montée en compétences 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2450592" cy="512064"/>
          </a:xfrm>
          <a:prstGeom prst="roundRect">
            <a:avLst>
              <a:gd name="adj" fmla="val 28571"/>
            </a:avLst>
          </a:prstGeom>
          <a:solidFill>
            <a:srgbClr val="ED843A"/>
          </a:solidFill>
          <a:ln w="12700">
            <a:solidFill>
              <a:srgbClr val="ED8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01568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Discutons-en 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61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chloe@thelearningsociety.fr</a:t>
            </a:r>
            <a:pPr indent="0" marL="0">
              <a:buNone/>
            </a:pPr>
            <a:r>
              <a:rPr lang="en-US" sz="1150" dirty="0">
                <a:solidFill>
                  <a:srgbClr val="4A7A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·   </a:t>
            </a:r>
            <a:pPr indent="0" marL="0">
              <a:buNone/>
            </a:pPr>
            <a:r>
              <a:rPr lang="en-US" sz="115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thelearningsociety.fr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POC Orange × TLS — Ingénieur pédagogique augmenté avec Dinootoo</dc:title>
  <dc:subject>PptxGenJS Presentation</dc:subject>
  <dc:creator>The Learning Society</dc:creator>
  <cp:lastModifiedBy>The Learning Society</cp:lastModifiedBy>
  <cp:revision>1</cp:revision>
  <dcterms:created xsi:type="dcterms:W3CDTF">2026-06-22T12:26:40Z</dcterms:created>
  <dcterms:modified xsi:type="dcterms:W3CDTF">2026-06-22T12:26:40Z</dcterms:modified>
</cp:coreProperties>
</file>